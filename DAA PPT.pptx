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–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38B1855-1B75-4FBE-930C-398BA8C253C6}" styleName="Themed Style 2 –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C2FFA5D-87B4-456A-9821-1D502468CF0F}" styleName="Themed Style 1 –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505E3EF-67EA-436B-97B2-0124C06EBD24}" styleName="Medium Style 4 –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–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765AE-23DF-3E92-CF77-1461A292AB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FC171F-63E9-EBE3-F171-CAB9887F4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AF8323-B31D-0AB8-F444-A44B73B805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D14F-58CF-4A64-A065-3833135C64A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1DF7A-E4EF-3F39-B110-4C5A5F8A5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AEF354-80DA-A3CE-873A-A7E08A6E9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A075-7F75-440E-A56D-01D3A1CDF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58675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BB81E-531C-ACCC-DCCF-185B45F7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740FD-1C7D-D12C-BF02-7D16F238A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14CBDB-EB07-E47E-444D-99960405B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D14F-58CF-4A64-A065-3833135C64A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AA35BA-9AF2-A39D-6252-BEF0DDD04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C28C5-667F-D005-657E-3A9BA1C10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A075-7F75-440E-A56D-01D3A1CDF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78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A6077-4E60-1AC7-C4A7-054C53687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59F8D1-4654-4568-27B5-E89E93FE2D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EA63BB-928B-B65A-96A2-B8D994C13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D14F-58CF-4A64-A065-3833135C64A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48AF6D-C5B8-DAFC-8A42-00E89A908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0D33C6-219C-C4E3-D104-A3B2C639B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A075-7F75-440E-A56D-01D3A1CDF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4433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98503-C27E-43DE-FCDB-FDA9254AF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25AFF4-8B90-4E06-B1EC-21AF03F5F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CA61B9-3617-F0FA-E943-75EECC10BFC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4337A-5CDA-19E2-AD60-D4CC3004B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D14F-58CF-4A64-A065-3833135C64A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B002E6-AA43-DB61-B5E0-2ED7D300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1101A0-16F2-CFE0-9830-4BF65D50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A075-7F75-440E-A56D-01D3A1CDF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445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D102FC-3489-A30A-A386-B605B42A6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E8B1CE-9FC7-0ABC-89CB-49E032A4C4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B28F65-ECF1-E1AF-F7E1-AC67A92D60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A826052-ECA1-BAA0-A2E3-DB3D08365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8573F7-3F16-132E-8190-097E29F9F9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63800F-144D-4EC4-929F-088B3A339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D14F-58CF-4A64-A065-3833135C64A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33D825-D936-4917-B119-30E0A96294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7F09B1-53B6-B6F2-6295-670116807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A075-7F75-440E-A56D-01D3A1CDF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50037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958B4-3855-E9CA-996C-CE8FB41D4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A12DF4-37E9-349D-4604-6577DFB83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D14F-58CF-4A64-A065-3833135C64A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D7CF32-E5E3-0E06-37CE-6ED5F762B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0286F5-E9FD-71F3-439A-7B3F0AE948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A075-7F75-440E-A56D-01D3A1CDF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3198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E036BA-BE6C-D047-7C75-90CBDB467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D14F-58CF-4A64-A065-3833135C64A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12EA86-C2DE-CDC2-C9E5-93256148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EEFE1A-0146-FDF0-DD4B-8764B2F13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A075-7F75-440E-A56D-01D3A1CDF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2247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30E100-A6DB-789E-DC4D-75628B2A5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21675-D8AF-6C52-567E-92BD2DE80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35B720-E34C-E154-CCD8-EBFD77F23A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93F5C7-19A8-3364-BA46-931A7F4CF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D14F-58CF-4A64-A065-3833135C64A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F62C55-9AB2-C54F-452E-EC6C3FC06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B457E-0BC1-DE86-FECF-7499E252B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A075-7F75-440E-A56D-01D3A1CDF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79934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977D8-B8C0-986D-1D37-A0EC7AA42A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0A1288-40AE-D126-46B8-4CE89E2988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85BD34-5A0E-C849-55F6-223A5FD166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D8636-5DB4-2DC1-58D8-5CBFBC26D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D14F-58CF-4A64-A065-3833135C64A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7C10D4-B85A-1A05-2675-5ADAFD3B9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D7413-FC4C-7057-92E6-1215D73A8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A075-7F75-440E-A56D-01D3A1CDF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9829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E6E6-6005-FC0D-5AED-60314BB06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38F859-DCDD-E936-8CE3-D5A8F3C183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E6119-5B77-944C-E2AF-BE2110DA1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D14F-58CF-4A64-A065-3833135C64A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BBBBB-9EA9-7A74-3DDD-FABB30EEB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FF156A-E206-35BC-A2CC-674F3F570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A075-7F75-440E-A56D-01D3A1CDF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204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DBA46C-B09C-96FC-5F74-BCBE646281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2FB95A-AE48-1CCA-AEAA-DE785FF8F2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165DC-207D-3312-6D79-DB63BD188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95D14F-58CF-4A64-A065-3833135C64A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0E8A8-2C76-5197-89B8-527FB5550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8EB7A5-C8B2-BE99-7AB7-8F51AFC69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57A075-7F75-440E-A56D-01D3A1CDF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76279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C4904A-0015-1D5E-BE6A-83C747945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43C580-E008-96F3-1920-02C575DF1B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204F7-B675-4889-9B43-34BB9393D1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95D14F-58CF-4A64-A065-3833135C64AB}" type="datetimeFigureOut">
              <a:rPr lang="en-IN" smtClean="0"/>
              <a:t>29-08-2026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94DF71-3319-F925-ACA3-0AA16FB24E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247604-BD68-7FB2-1E9F-BE34144A24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57A075-7F75-440E-A56D-01D3A1CDFF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097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21BBB5A-DE9C-2FAD-6309-F0E715038B44}"/>
              </a:ext>
            </a:extLst>
          </p:cNvPr>
          <p:cNvSpPr txBox="1"/>
          <p:nvPr/>
        </p:nvSpPr>
        <p:spPr>
          <a:xfrm>
            <a:off x="8072284" y="4935793"/>
            <a:ext cx="41197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Ganji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Madhan Kumar(192472328)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P.Karthik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(192524222)</a:t>
            </a:r>
          </a:p>
          <a:p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M.Teja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(1924….)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FAEC2B-C92D-E9E2-C3C6-ECABE0607550}"/>
              </a:ext>
            </a:extLst>
          </p:cNvPr>
          <p:cNvSpPr txBox="1"/>
          <p:nvPr/>
        </p:nvSpPr>
        <p:spPr>
          <a:xfrm>
            <a:off x="1543665" y="4935793"/>
            <a:ext cx="3352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Gnanajeyaraman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B234FA1-1AE4-07BF-5ECF-BB6567C83EDC}"/>
              </a:ext>
            </a:extLst>
          </p:cNvPr>
          <p:cNvSpPr txBox="1"/>
          <p:nvPr/>
        </p:nvSpPr>
        <p:spPr>
          <a:xfrm>
            <a:off x="2753116" y="3153900"/>
            <a:ext cx="65678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CSA0624 - DESIGN AND ANALYSIS OF ALGORITHMS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ADB41A-C8CF-CDB7-1A60-533E1B95DC73}"/>
              </a:ext>
            </a:extLst>
          </p:cNvPr>
          <p:cNvSpPr txBox="1"/>
          <p:nvPr/>
        </p:nvSpPr>
        <p:spPr>
          <a:xfrm>
            <a:off x="1052378" y="2166179"/>
            <a:ext cx="1029961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Disaster Evacuation Route Planner</a:t>
            </a:r>
          </a:p>
        </p:txBody>
      </p:sp>
      <p:pic>
        <p:nvPicPr>
          <p:cNvPr id="10" name="Picture 6" descr="SIMATS ENGINEERING —Profile">
            <a:extLst>
              <a:ext uri="{FF2B5EF4-FFF2-40B4-BE49-F238E27FC236}">
                <a16:creationId xmlns:a16="http://schemas.microsoft.com/office/drawing/2014/main" id="{E404DB0B-2B39-749D-4C34-98EA3473AB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300" y="264993"/>
            <a:ext cx="8539693" cy="1088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7444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FECE6-4683-9D5A-68A5-47EE511E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SIMATS ENGINEERING —Profile">
            <a:extLst>
              <a:ext uri="{FF2B5EF4-FFF2-40B4-BE49-F238E27FC236}">
                <a16:creationId xmlns:a16="http://schemas.microsoft.com/office/drawing/2014/main" id="{F471D154-C1FB-8C68-A06B-27AF9F6D9B0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153761" y="0"/>
            <a:ext cx="1127675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IMATS ENGINEERING —Profile">
            <a:extLst>
              <a:ext uri="{FF2B5EF4-FFF2-40B4-BE49-F238E27FC236}">
                <a16:creationId xmlns:a16="http://schemas.microsoft.com/office/drawing/2014/main" id="{9966E18A-B3E7-E35E-A510-7C557D95986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0389793" y="0"/>
            <a:ext cx="1648446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DB7121C5-DED9-47BE-7F6A-F161CC488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351C27D-7EC7-5792-508B-72CAC72165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4"/>
            <a:ext cx="6221360" cy="4889807"/>
          </a:xfrm>
        </p:spPr>
        <p:txBody>
          <a:bodyPr>
            <a:normAutofit fontScale="85000" lnSpcReduction="10000"/>
          </a:bodyPr>
          <a:lstStyle/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system for finding safe evacuation routes during disasters.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AI, maps, and real-time data to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dangerous areas.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people choose the safest and fastest route to an emergency shelter.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Avoids blocked roads and high-risk zones during evacuation. </a:t>
            </a:r>
          </a:p>
          <a:p>
            <a:pPr lvl="0"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route guidance and emergency alerts to users.</a:t>
            </a:r>
          </a:p>
          <a:p>
            <a:pPr algn="just">
              <a:lnSpc>
                <a:spcPct val="150000"/>
              </a:lnSpc>
            </a:pP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11D5E3-C254-5724-0806-CDC69E383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537" y="2055813"/>
            <a:ext cx="4565702" cy="3043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935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5AEB9-D6E4-0685-7863-96DFD9C1A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SIMATS ENGINEERING —Profile">
            <a:extLst>
              <a:ext uri="{FF2B5EF4-FFF2-40B4-BE49-F238E27FC236}">
                <a16:creationId xmlns:a16="http://schemas.microsoft.com/office/drawing/2014/main" id="{C84D75E0-FA2F-A97F-A053-E92FFD5C53B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153761" y="0"/>
            <a:ext cx="1127675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IMATS ENGINEERING —Profile">
            <a:extLst>
              <a:ext uri="{FF2B5EF4-FFF2-40B4-BE49-F238E27FC236}">
                <a16:creationId xmlns:a16="http://schemas.microsoft.com/office/drawing/2014/main" id="{205E286B-D29E-F7E2-1845-EA362F2D9C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0389793" y="0"/>
            <a:ext cx="1648446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43C77286-1304-C9A2-7355-C390A4584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3061" y="1231167"/>
            <a:ext cx="10032046" cy="2564636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6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During disasters, people may not know which evacuation route is safe and accessible, causing delays and increasing risk.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32A75D-97D1-8835-5D01-31F3C57841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523061" y="3844266"/>
            <a:ext cx="9690955" cy="1847851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lang="en-IN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smart system that identifies the safest evacuation route and guides people to nearby safe zones during disasters</a:t>
            </a:r>
            <a:r>
              <a:rPr lang="en-IN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5979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84A9B-E903-B0A4-BBCE-260812D8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SIMATS ENGINEERING —Profile">
            <a:extLst>
              <a:ext uri="{FF2B5EF4-FFF2-40B4-BE49-F238E27FC236}">
                <a16:creationId xmlns:a16="http://schemas.microsoft.com/office/drawing/2014/main" id="{99C00100-1802-6145-C73C-F7F4720C33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153761" y="0"/>
            <a:ext cx="1127675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IMATS ENGINEERING —Profile">
            <a:extLst>
              <a:ext uri="{FF2B5EF4-FFF2-40B4-BE49-F238E27FC236}">
                <a16:creationId xmlns:a16="http://schemas.microsoft.com/office/drawing/2014/main" id="{CE435D41-BFFD-A53A-A090-CBFD0BC3F5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0389793" y="0"/>
            <a:ext cx="1648446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63F74B4-23B6-57D6-0FED-5F1C4B5D43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281436" y="1814108"/>
            <a:ext cx="10355805" cy="1816617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normal maps and manual instructions to guide people during emergencies, without considering changing disaster conditions.</a:t>
            </a:r>
            <a:endParaRPr lang="en-IN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484F5A1-3E69-82E7-AAA8-C26C81B9FA35}"/>
              </a:ext>
            </a:extLst>
          </p:cNvPr>
          <p:cNvSpPr txBox="1"/>
          <p:nvPr/>
        </p:nvSpPr>
        <p:spPr>
          <a:xfrm>
            <a:off x="1281436" y="4048027"/>
            <a:ext cx="10046964" cy="1391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  <a:endParaRPr lang="en-IN" sz="2800" b="1" dirty="0"/>
          </a:p>
          <a:p>
            <a:pPr marL="457200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AI, real-time disaster data, and route optimization to identify dangerous areas and provide the safest evacuation route.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6195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D7AE1E-CAEE-F77F-5601-FE189C38DC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SIMATS ENGINEERING —Profile">
            <a:extLst>
              <a:ext uri="{FF2B5EF4-FFF2-40B4-BE49-F238E27FC236}">
                <a16:creationId xmlns:a16="http://schemas.microsoft.com/office/drawing/2014/main" id="{C7261213-FF74-2271-BDD3-8BB4292FC8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153761" y="0"/>
            <a:ext cx="1127675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IMATS ENGINEERING —Profile">
            <a:extLst>
              <a:ext uri="{FF2B5EF4-FFF2-40B4-BE49-F238E27FC236}">
                <a16:creationId xmlns:a16="http://schemas.microsoft.com/office/drawing/2014/main" id="{07E94ADB-D5D1-CF0C-999F-A5FAEF0E04E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0389793" y="0"/>
            <a:ext cx="1648446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itle 10">
            <a:extLst>
              <a:ext uri="{FF2B5EF4-FFF2-40B4-BE49-F238E27FC236}">
                <a16:creationId xmlns:a16="http://schemas.microsoft.com/office/drawing/2014/main" id="{35B93279-6594-7E22-3620-9F5AF751F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2859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/ Background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7691D27-A4E1-0A83-DBBC-48D38D6391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4106944"/>
              </p:ext>
            </p:extLst>
          </p:nvPr>
        </p:nvGraphicFramePr>
        <p:xfrm>
          <a:off x="442640" y="1493520"/>
          <a:ext cx="11306719" cy="4806261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599579">
                  <a:extLst>
                    <a:ext uri="{9D8B030D-6E8A-4147-A177-3AD203B41FA5}">
                      <a16:colId xmlns:a16="http://schemas.microsoft.com/office/drawing/2014/main" val="1593946032"/>
                    </a:ext>
                  </a:extLst>
                </a:gridCol>
                <a:gridCol w="4027403">
                  <a:extLst>
                    <a:ext uri="{9D8B030D-6E8A-4147-A177-3AD203B41FA5}">
                      <a16:colId xmlns:a16="http://schemas.microsoft.com/office/drawing/2014/main" val="3331449854"/>
                    </a:ext>
                  </a:extLst>
                </a:gridCol>
                <a:gridCol w="1803126">
                  <a:extLst>
                    <a:ext uri="{9D8B030D-6E8A-4147-A177-3AD203B41FA5}">
                      <a16:colId xmlns:a16="http://schemas.microsoft.com/office/drawing/2014/main" val="1245723661"/>
                    </a:ext>
                  </a:extLst>
                </a:gridCol>
                <a:gridCol w="2052640">
                  <a:extLst>
                    <a:ext uri="{9D8B030D-6E8A-4147-A177-3AD203B41FA5}">
                      <a16:colId xmlns:a16="http://schemas.microsoft.com/office/drawing/2014/main" val="3210868982"/>
                    </a:ext>
                  </a:extLst>
                </a:gridCol>
                <a:gridCol w="2823971">
                  <a:extLst>
                    <a:ext uri="{9D8B030D-6E8A-4147-A177-3AD203B41FA5}">
                      <a16:colId xmlns:a16="http://schemas.microsoft.com/office/drawing/2014/main" val="3306168748"/>
                    </a:ext>
                  </a:extLst>
                </a:gridCol>
              </a:tblGrid>
              <a:tr h="304220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16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Author&amp; Year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Methodology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3568595"/>
                  </a:ext>
                </a:extLst>
              </a:tr>
              <a:tr h="84056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 Emergency Evacuation Route Planning Model Based on Fire Prediction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Deng et al., 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A* algorithm + fire-spread prediction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Dynamically avoids fire-affected areas and reduces evacuation time.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2329911"/>
                  </a:ext>
                </a:extLst>
              </a:tr>
              <a:tr h="110873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Evacuation Route Planning Algorithm Based on Maximum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Maximum-flow algorithm for evacuation planning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Generates evacuation routes efficiently and helps move people toward safe areas.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9807134"/>
                  </a:ext>
                </a:extLst>
              </a:tr>
              <a:tr h="84056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 Evacuation Route Planning of Urban Personnel at Different Risk Levels of Flood Disasters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3D Dijkstra + Lasso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Considers road width, slope and pedestrian density to improve evacuation efficiency.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6726986"/>
                  </a:ext>
                </a:extLst>
              </a:tr>
              <a:tr h="84056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Deep Learning Approach for Network-Wide Dynamic Traffic Prediction During Hurricane Evacuation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Rahman &amp; Hasan, 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DGCN-LSTM + Transfer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Predicts evacuation traffic and helps reduce delays during large-scale evacuations.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9813754"/>
                  </a:ext>
                </a:extLst>
              </a:tr>
              <a:tr h="84056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Reinforcement Learning for Optimal Rescue Path Planning in Urban Flood Scenarios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Reinforcement Learning (DRL) + risk assessment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6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Generates safer rescue paths under uncertain and changing flood conditions.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549622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5114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AA53A-FBD3-B742-7812-83A0A3B7B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20754C6C-33B0-CE76-86E2-6897CEAFB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256" y="302342"/>
            <a:ext cx="9833487" cy="6555658"/>
          </a:xfrm>
          <a:prstGeom prst="rect">
            <a:avLst/>
          </a:prstGeom>
        </p:spPr>
      </p:pic>
      <p:pic>
        <p:nvPicPr>
          <p:cNvPr id="3" name="Picture 6" descr="SIMATS ENGINEERING —Profile">
            <a:extLst>
              <a:ext uri="{FF2B5EF4-FFF2-40B4-BE49-F238E27FC236}">
                <a16:creationId xmlns:a16="http://schemas.microsoft.com/office/drawing/2014/main" id="{C87E3A9E-E460-9EB0-1D92-55F5768F73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153761" y="0"/>
            <a:ext cx="1127675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IMATS ENGINEERING —Profile">
            <a:extLst>
              <a:ext uri="{FF2B5EF4-FFF2-40B4-BE49-F238E27FC236}">
                <a16:creationId xmlns:a16="http://schemas.microsoft.com/office/drawing/2014/main" id="{ED85349E-98EC-CD9D-D5E8-00FA3B77770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0389793" y="0"/>
            <a:ext cx="1648446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39132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628C7-182E-1864-FF15-DABAE54E8F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SIMATS ENGINEERING —Profile">
            <a:extLst>
              <a:ext uri="{FF2B5EF4-FFF2-40B4-BE49-F238E27FC236}">
                <a16:creationId xmlns:a16="http://schemas.microsoft.com/office/drawing/2014/main" id="{939F698E-5024-9FA2-4801-4CCAD66CD04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153761" y="0"/>
            <a:ext cx="1127675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IMATS ENGINEERING —Profile">
            <a:extLst>
              <a:ext uri="{FF2B5EF4-FFF2-40B4-BE49-F238E27FC236}">
                <a16:creationId xmlns:a16="http://schemas.microsoft.com/office/drawing/2014/main" id="{A49752FD-35F6-61C6-63D9-5E4652D80E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0389793" y="0"/>
            <a:ext cx="1648446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A17222-8872-F418-1CCE-467CE3DD7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5998" y="330594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1: Disaster Detection &amp; Risk Analysis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E94BA2-65BE-238F-CC97-2F52EC5F10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12586" cy="1727534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disaster-affected areas and determine their risk level.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CA3347-3B0F-3163-173A-44D6BDF8E611}"/>
              </a:ext>
            </a:extLst>
          </p:cNvPr>
          <p:cNvSpPr txBox="1"/>
          <p:nvPr/>
        </p:nvSpPr>
        <p:spPr>
          <a:xfrm>
            <a:off x="615998" y="3672419"/>
            <a:ext cx="6750004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disaster data collection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Risk level analysis</a:t>
            </a:r>
          </a:p>
          <a:p>
            <a:pPr marL="285750" lvl="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Affected area detection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Hazard zone mapping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DA65ED-26AF-EAA3-53BF-889F04B783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0425" y="2238233"/>
            <a:ext cx="5307813" cy="265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905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61A16-436B-61EB-42B1-C0A13849E1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SIMATS ENGINEERING —Profile">
            <a:extLst>
              <a:ext uri="{FF2B5EF4-FFF2-40B4-BE49-F238E27FC236}">
                <a16:creationId xmlns:a16="http://schemas.microsoft.com/office/drawing/2014/main" id="{B0057201-5A82-9695-0AF4-35438C82B1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153761" y="0"/>
            <a:ext cx="1127675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IMATS ENGINEERING —Profile">
            <a:extLst>
              <a:ext uri="{FF2B5EF4-FFF2-40B4-BE49-F238E27FC236}">
                <a16:creationId xmlns:a16="http://schemas.microsoft.com/office/drawing/2014/main" id="{A332A1FD-CFD6-973B-B306-49FA2A254C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0389793" y="0"/>
            <a:ext cx="1648446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495DE15-6300-52FA-CF63-01A9D5B22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00062"/>
            <a:ext cx="95250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2: Smart Evacuation Route Planning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5A9BB1-EA0D-3E48-32D7-F8ABB3E3A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250" y="1825625"/>
            <a:ext cx="6140402" cy="2301152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the safest and shortest route to a nearby safe zone.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1BAE36-37FB-EDBA-A2B6-040016A1369A}"/>
              </a:ext>
            </a:extLst>
          </p:cNvPr>
          <p:cNvSpPr txBox="1"/>
          <p:nvPr/>
        </p:nvSpPr>
        <p:spPr>
          <a:xfrm>
            <a:off x="402638" y="4087955"/>
            <a:ext cx="5916882" cy="2351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Safe-zone identification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Dijkstra / A* route optimization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Blocked-road avoidance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route updates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28F4108-629E-9101-C4CC-88B48267CB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9652" y="2511336"/>
            <a:ext cx="4794750" cy="230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50303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B9932-F4B9-69E4-7E05-1872A7B5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SIMATS ENGINEERING —Profile">
            <a:extLst>
              <a:ext uri="{FF2B5EF4-FFF2-40B4-BE49-F238E27FC236}">
                <a16:creationId xmlns:a16="http://schemas.microsoft.com/office/drawing/2014/main" id="{6FD9EDBF-3F35-8730-868E-CC99D306B83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153761" y="0"/>
            <a:ext cx="1127675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IMATS ENGINEERING —Profile">
            <a:extLst>
              <a:ext uri="{FF2B5EF4-FFF2-40B4-BE49-F238E27FC236}">
                <a16:creationId xmlns:a16="http://schemas.microsoft.com/office/drawing/2014/main" id="{115F8CBD-F87C-6AD2-4DC5-B46E04D122A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0389793" y="0"/>
            <a:ext cx="1648446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B4A5794-0FEB-33B3-E669-5DC517BB8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00062"/>
            <a:ext cx="9525000" cy="132556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3: Alert &amp; Evacuation Management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09A87C-8BBB-7027-BD9B-340F54319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518" y="1802130"/>
            <a:ext cx="6525891" cy="2301152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guide users during evacuation and provide timely emergency alerts.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222462-808C-36FB-7CDF-753705240447}"/>
              </a:ext>
            </a:extLst>
          </p:cNvPr>
          <p:cNvSpPr txBox="1"/>
          <p:nvPr/>
        </p:nvSpPr>
        <p:spPr>
          <a:xfrm>
            <a:off x="717598" y="4103282"/>
            <a:ext cx="6882082" cy="2345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Emergency notifications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Route guidance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Evacuation status tracking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Authority/emergency service alerts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13D99AB-3F4D-E048-18AD-A68D9AE1E3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18" r="8628"/>
          <a:stretch>
            <a:fillRect/>
          </a:stretch>
        </p:blipFill>
        <p:spPr>
          <a:xfrm>
            <a:off x="7457779" y="2325687"/>
            <a:ext cx="4580460" cy="264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990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78D54C-CF7B-0A70-A29D-2B8B6F9BA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SIMATS ENGINEERING —Profile">
            <a:extLst>
              <a:ext uri="{FF2B5EF4-FFF2-40B4-BE49-F238E27FC236}">
                <a16:creationId xmlns:a16="http://schemas.microsoft.com/office/drawing/2014/main" id="{8ABFCA27-BF0A-37EF-70D4-5EDAF4A673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153761" y="0"/>
            <a:ext cx="1127675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IMATS ENGINEERING —Profile">
            <a:extLst>
              <a:ext uri="{FF2B5EF4-FFF2-40B4-BE49-F238E27FC236}">
                <a16:creationId xmlns:a16="http://schemas.microsoft.com/office/drawing/2014/main" id="{B541981C-7556-BF5C-567F-0231805D07D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0389793" y="0"/>
            <a:ext cx="1648446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C780E30-7C9D-3F5D-2F90-0FC7BD45FD0A}"/>
              </a:ext>
            </a:extLst>
          </p:cNvPr>
          <p:cNvSpPr txBox="1"/>
          <p:nvPr/>
        </p:nvSpPr>
        <p:spPr>
          <a:xfrm>
            <a:off x="1403356" y="2056667"/>
            <a:ext cx="8458399" cy="18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Scope: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Safe Route Planning: Automatically identifies the safest and shortest evacuation route based on disaster location, blocked roads, traffic conditions, and available emergency shelters.</a:t>
            </a:r>
          </a:p>
        </p:txBody>
      </p:sp>
    </p:spTree>
    <p:extLst>
      <p:ext uri="{BB962C8B-B14F-4D97-AF65-F5344CB8AC3E}">
        <p14:creationId xmlns:p14="http://schemas.microsoft.com/office/powerpoint/2010/main" val="5526967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7EA03-1C77-C64C-671A-C49052F88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SIMATS ENGINEERING —Profile">
            <a:extLst>
              <a:ext uri="{FF2B5EF4-FFF2-40B4-BE49-F238E27FC236}">
                <a16:creationId xmlns:a16="http://schemas.microsoft.com/office/drawing/2014/main" id="{8FAAEC36-20B7-73E6-7529-D89812049D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153761" y="0"/>
            <a:ext cx="1127675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IMATS ENGINEERING —Profile">
            <a:extLst>
              <a:ext uri="{FF2B5EF4-FFF2-40B4-BE49-F238E27FC236}">
                <a16:creationId xmlns:a16="http://schemas.microsoft.com/office/drawing/2014/main" id="{E9B6EFA6-C003-9F9F-BF31-F0FB847DDC4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0389793" y="0"/>
            <a:ext cx="1648446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99A2CB-A4E4-5AE6-20FC-EE8B50864B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292014-B6B0-4E81-D5BF-C94781AB2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5" y="1467840"/>
            <a:ext cx="11975690" cy="5310171"/>
          </a:xfrm>
        </p:spPr>
        <p:txBody>
          <a:bodyPr>
            <a:normAutofit/>
          </a:bodyPr>
          <a:lstStyle/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Smart Disaster Evacuation Route Planner helps people identify safe and efficient evacuation routes during disasters.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considers disaster risk, road blockage, traffic congestion, route safety, and shelter availability while planning routes.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route planning can provide better evacuation decisions than relying only on the shortest-path approach.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reduce evacuation time and casualties by directing people away from dangerous or blocked areas.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and adaptive routing can support emergency responders and disaster-management authorities in making faster decisions. </a:t>
            </a:r>
          </a:p>
          <a:p>
            <a:pPr lvl="0" algn="just">
              <a:lnSpc>
                <a:spcPct val="150000"/>
              </a:lnSpc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proposed system can improve public safety, evacuation efficiency, and disaster-response management.</a:t>
            </a:r>
          </a:p>
        </p:txBody>
      </p:sp>
    </p:spTree>
    <p:extLst>
      <p:ext uri="{BB962C8B-B14F-4D97-AF65-F5344CB8AC3E}">
        <p14:creationId xmlns:p14="http://schemas.microsoft.com/office/powerpoint/2010/main" val="11791057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9570D-3196-C167-74BB-187BB20B0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SIMATS ENGINEERING —Profile">
            <a:extLst>
              <a:ext uri="{FF2B5EF4-FFF2-40B4-BE49-F238E27FC236}">
                <a16:creationId xmlns:a16="http://schemas.microsoft.com/office/drawing/2014/main" id="{60E717D6-EA1F-526B-171A-2603B5AEFA6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153761" y="0"/>
            <a:ext cx="1127675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IMATS ENGINEERING —Profile">
            <a:extLst>
              <a:ext uri="{FF2B5EF4-FFF2-40B4-BE49-F238E27FC236}">
                <a16:creationId xmlns:a16="http://schemas.microsoft.com/office/drawing/2014/main" id="{AA1A664C-DC2D-471C-868B-1A84F673703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0389793" y="0"/>
            <a:ext cx="1648446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D4A5B2F-7DF8-19BF-DED7-1848E5B90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843D0E-1046-4981-718A-C10945C000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6420" y="1802136"/>
            <a:ext cx="11251954" cy="4775645"/>
          </a:xfrm>
        </p:spPr>
        <p:txBody>
          <a:bodyPr>
            <a:no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J. Mao, Y. Zhou, Y. Zhou, and X. Wang, “Urban Emergency Evacuation Path Optimization Based on Uncertain Environments to Enhance Response for Symmetric and Asymmetric Evacuation Problems,”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16, no. 10, Art. no. 1356, Oct. 2024,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10.3390/sym16101356.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Yoo, S. Haam, and W. S. Song, “Congestion-Based Earthquake Emergency Evacuation Simulation Model for Underground Structure,”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Buildings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14, no. 10, Art. no. 3217, Oct. 2024,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10.3390/buildings14103217.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J. ... et al., “A systematic review of methodologies for human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modelling and routing optimization in large-scale evacuation planning,”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Disaster Risk Reduction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110, Art. no. 104638, Aug. 2024,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10.1016/j.ijdrr.2024.104638.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“A novel emergency evacuation route optimization model in flood disasters using hydrodynamic model and intelligent algorithm,”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Science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182, Art. no. 106709, Feb. 2025,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10.1016/j.ssci.2024.106709. </a:t>
            </a: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“Optimizing evacuation paths using agent-based evacuation simulations and reinforcement learning,” </a:t>
            </a: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Disaster Risk Reduction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117, Art. no. 105173, Feb. 2025,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doi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10.1016/j.ijdrr.2024.105173. </a:t>
            </a:r>
          </a:p>
        </p:txBody>
      </p:sp>
    </p:spTree>
    <p:extLst>
      <p:ext uri="{BB962C8B-B14F-4D97-AF65-F5344CB8AC3E}">
        <p14:creationId xmlns:p14="http://schemas.microsoft.com/office/powerpoint/2010/main" val="6821999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0B9F0-2780-D00A-E3C3-F8112F3A5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6" descr="SIMATS ENGINEERING —Profile">
            <a:extLst>
              <a:ext uri="{FF2B5EF4-FFF2-40B4-BE49-F238E27FC236}">
                <a16:creationId xmlns:a16="http://schemas.microsoft.com/office/drawing/2014/main" id="{A8DF7E91-C9F4-0A84-8213-AAF76E00B0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380"/>
          <a:stretch>
            <a:fillRect/>
          </a:stretch>
        </p:blipFill>
        <p:spPr bwMode="auto">
          <a:xfrm>
            <a:off x="153761" y="0"/>
            <a:ext cx="1127675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6" descr="SIMATS ENGINEERING —Profile">
            <a:extLst>
              <a:ext uri="{FF2B5EF4-FFF2-40B4-BE49-F238E27FC236}">
                <a16:creationId xmlns:a16="http://schemas.microsoft.com/office/drawing/2014/main" id="{D944B26B-0E05-B4A9-FB4B-57F2BF2832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17" r="33880"/>
          <a:stretch>
            <a:fillRect/>
          </a:stretch>
        </p:blipFill>
        <p:spPr bwMode="auto">
          <a:xfrm>
            <a:off x="10389793" y="0"/>
            <a:ext cx="1648446" cy="11827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7E8B0B6-C646-5943-47ED-9167B5D1E0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78" t="25325" r="5856" b="29865"/>
          <a:stretch>
            <a:fillRect/>
          </a:stretch>
        </p:blipFill>
        <p:spPr>
          <a:xfrm>
            <a:off x="1909481" y="1113064"/>
            <a:ext cx="8677837" cy="4327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17042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</TotalTime>
  <Words>888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Introduction</vt:lpstr>
      <vt:lpstr>PowerPoint Presentation</vt:lpstr>
      <vt:lpstr>PowerPoint Presentation</vt:lpstr>
      <vt:lpstr>Literature Review / Background</vt:lpstr>
      <vt:lpstr>PowerPoint Presentation</vt:lpstr>
      <vt:lpstr>Module 1: Disaster Detection &amp; Risk Analysis</vt:lpstr>
      <vt:lpstr>Module 2: Smart Evacuation Route Planning</vt:lpstr>
      <vt:lpstr>Module 3: Alert &amp; Evacuation Management</vt:lpstr>
      <vt:lpstr>PowerPoint Presentation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MADHAN GANJI</dc:creator>
  <cp:lastModifiedBy>MADHAN GANJI</cp:lastModifiedBy>
  <cp:revision>2</cp:revision>
  <dcterms:created xsi:type="dcterms:W3CDTF">2026-08-27T02:54:09Z</dcterms:created>
  <dcterms:modified xsi:type="dcterms:W3CDTF">2026-08-29T04:07:09Z</dcterms:modified>
</cp:coreProperties>
</file>